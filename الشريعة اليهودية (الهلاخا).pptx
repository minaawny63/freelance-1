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embeddedFontLst>
    <p:embeddedFont>
      <p:font typeface="Amiri" panose="00000500000000000000" pitchFamily="2" charset="-78"/>
      <p:regular r:id="rId13"/>
      <p:bold r:id="rId14"/>
      <p:italic r:id="rId15"/>
      <p:boldItalic r:id="rId16"/>
    </p:embeddedFont>
    <p:embeddedFont>
      <p:font typeface="Cairo" panose="020B0604020202020204" charset="-78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6E7892B-01F6-27CB-0E4F-66DBB6B6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>
            <a:extLst>
              <a:ext uri="{FF2B5EF4-FFF2-40B4-BE49-F238E27FC236}">
                <a16:creationId xmlns:a16="http://schemas.microsoft.com/office/drawing/2014/main" id="{FE4CAFD5-D0E3-46E5-12D6-75BAE126E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>
            <a:extLst>
              <a:ext uri="{FF2B5EF4-FFF2-40B4-BE49-F238E27FC236}">
                <a16:creationId xmlns:a16="http://schemas.microsoft.com/office/drawing/2014/main" id="{20983EA7-4E9C-2F74-31B4-D55C2DDFA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751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4413"/>
            <a:ext cx="12192000" cy="69268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81903" y="2363108"/>
            <a:ext cx="818079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 rtl="1">
              <a:lnSpc>
                <a:spcPct val="120000"/>
              </a:lnSpc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 </a:t>
            </a:r>
            <a:r>
              <a:rPr kumimoji="0" lang="ar-EG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(</a:t>
            </a:r>
            <a:r>
              <a:rPr kumimoji="0" lang="en-US" sz="54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الهلاخا</a:t>
            </a:r>
            <a:r>
              <a:rPr kumimoji="0" lang="ar-EG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) الشريعة اليهودية</a:t>
            </a:r>
            <a:r>
              <a:rPr lang="en-US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847800" y="4865617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إطار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قانوني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وديني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بين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التراث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Cairo"/>
                <a:ea typeface="Cairo"/>
                <a:cs typeface="Cairo"/>
                <a:sym typeface="Cairo"/>
              </a:rPr>
              <a:t>والحداثة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8077200" y="6229350"/>
            <a:ext cx="3543300" cy="34290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172450" y="6276975"/>
            <a:ext cx="3352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المصدر: مشروع الحصن – الشريعة اليهودية الشفوية والمكتوبة</a:t>
            </a:r>
            <a:endParaRPr/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AC50425-AD30-35B9-2BC0-FB6E720F6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0086" y="-1470788"/>
            <a:ext cx="4333875" cy="4333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6EC3D-7319-78CD-42FC-9815D9D2796B}"/>
              </a:ext>
            </a:extLst>
          </p:cNvPr>
          <p:cNvSpPr txBox="1"/>
          <p:nvPr/>
        </p:nvSpPr>
        <p:spPr>
          <a:xfrm>
            <a:off x="-801096" y="4975348"/>
            <a:ext cx="491589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2600" indent="-457200" algn="r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الطالبة :مارتينا ماجد</a:t>
            </a:r>
          </a:p>
          <a:p>
            <a:pPr marL="482600" indent="-457200" algn="r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r-EG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الدكتوره</a:t>
            </a: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اميرة ادريس</a:t>
            </a:r>
          </a:p>
          <a:p>
            <a:pPr marL="482600" indent="-457200" algn="r"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EG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الرقم الجامعي:</a:t>
            </a:r>
            <a:r>
              <a:rPr lang="ar-EG" sz="3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4555968 </a:t>
            </a:r>
            <a:endParaRPr lang="ar-EG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62" y="1156328"/>
            <a:ext cx="11049000" cy="216697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388620" y="227369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مقدمة</a:t>
            </a:r>
            <a:endParaRPr dirty="0"/>
          </a:p>
        </p:txBody>
      </p:sp>
      <p:sp>
        <p:nvSpPr>
          <p:cNvPr id="108" name="Google Shape;108;p14"/>
          <p:cNvSpPr/>
          <p:nvPr/>
        </p:nvSpPr>
        <p:spPr>
          <a:xfrm>
            <a:off x="5715000" y="865699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365CC05-DC11-4246-2C72-D60D13828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211" y="1318679"/>
            <a:ext cx="1113441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تُشكل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الشريعة اليهودية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المعروفة بالاسم العبري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ar-SA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الهلاخا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نظامًا قانونيًا ودينيًا متكاملاً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يمثل إطارًا شاملًا لتنظيم جوانب الحياة اليومية والدينية والاجتماعية لليهود عبر العصور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وهي تُعد بمثابة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إطار قانوني وديني يوازن بين التراث والحداثة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r-EG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نشأت </a:t>
            </a:r>
            <a:r>
              <a:rPr kumimoji="0" lang="ar-SA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الهلاخا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من تفاعل مستمر بين النصوص الثابتة والتعاليم المتطورة، مما منحها عمقًا واستمرارية عبر التاريخ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وفي العصر الحديث، تجد هذه الشريعة نفسها في خضم توترات مع الأنظمة القانونية المدنية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خاصة في دولة إسرائيل التي تتجه نحو دمجها بشكل أكبر مع القانون المدني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105;p14">
            <a:extLst>
              <a:ext uri="{FF2B5EF4-FFF2-40B4-BE49-F238E27FC236}">
                <a16:creationId xmlns:a16="http://schemas.microsoft.com/office/drawing/2014/main" id="{AF88CFB6-4687-7CEB-FF6C-0EF16CB45E67}"/>
              </a:ext>
            </a:extLst>
          </p:cNvPr>
          <p:cNvSpPr txBox="1"/>
          <p:nvPr/>
        </p:nvSpPr>
        <p:spPr>
          <a:xfrm>
            <a:off x="267254" y="3672146"/>
            <a:ext cx="1160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المصادر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الأساسية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للهلاخا</a:t>
            </a:r>
            <a:endParaRPr sz="2000" dirty="0"/>
          </a:p>
        </p:txBody>
      </p:sp>
      <p:sp>
        <p:nvSpPr>
          <p:cNvPr id="31" name="Google Shape;97;p14">
            <a:extLst>
              <a:ext uri="{FF2B5EF4-FFF2-40B4-BE49-F238E27FC236}">
                <a16:creationId xmlns:a16="http://schemas.microsoft.com/office/drawing/2014/main" id="{74B08CF1-36E9-27BA-F0AD-B9EFEBB7590B}"/>
              </a:ext>
            </a:extLst>
          </p:cNvPr>
          <p:cNvSpPr txBox="1"/>
          <p:nvPr/>
        </p:nvSpPr>
        <p:spPr>
          <a:xfrm>
            <a:off x="1360320" y="5741192"/>
            <a:ext cx="10629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35" name="Google Shape;101;p14">
            <a:extLst>
              <a:ext uri="{FF2B5EF4-FFF2-40B4-BE49-F238E27FC236}">
                <a16:creationId xmlns:a16="http://schemas.microsoft.com/office/drawing/2014/main" id="{F65B4C1E-DC8D-D710-6EFA-23827BEF18AE}"/>
              </a:ext>
            </a:extLst>
          </p:cNvPr>
          <p:cNvSpPr txBox="1"/>
          <p:nvPr/>
        </p:nvSpPr>
        <p:spPr>
          <a:xfrm>
            <a:off x="6452191" y="4928804"/>
            <a:ext cx="502376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الميشنا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والتلمود</a:t>
            </a:r>
            <a:endParaRPr dirty="0"/>
          </a:p>
        </p:txBody>
      </p:sp>
      <p:sp>
        <p:nvSpPr>
          <p:cNvPr id="36" name="Google Shape;102;p14">
            <a:extLst>
              <a:ext uri="{FF2B5EF4-FFF2-40B4-BE49-F238E27FC236}">
                <a16:creationId xmlns:a16="http://schemas.microsoft.com/office/drawing/2014/main" id="{4CDAAFE3-4DB2-6AF8-52A9-97220BDBC58A}"/>
              </a:ext>
            </a:extLst>
          </p:cNvPr>
          <p:cNvSpPr txBox="1"/>
          <p:nvPr/>
        </p:nvSpPr>
        <p:spPr>
          <a:xfrm>
            <a:off x="2182761" y="4809690"/>
            <a:ext cx="715344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الشفوية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وشروحها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الموسعة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تفصل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كيفية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تطبيق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التوراة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38" name="Google Shape;104;p14" descr="image.png">
            <a:extLst>
              <a:ext uri="{FF2B5EF4-FFF2-40B4-BE49-F238E27FC236}">
                <a16:creationId xmlns:a16="http://schemas.microsoft.com/office/drawing/2014/main" id="{39C9835B-CDED-4F2B-A561-7AC28B7865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7489" y="4878643"/>
            <a:ext cx="428034" cy="42348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06;p14">
            <a:extLst>
              <a:ext uri="{FF2B5EF4-FFF2-40B4-BE49-F238E27FC236}">
                <a16:creationId xmlns:a16="http://schemas.microsoft.com/office/drawing/2014/main" id="{A52AB63D-459A-103B-13B1-8C8C53EB2A48}"/>
              </a:ext>
            </a:extLst>
          </p:cNvPr>
          <p:cNvSpPr/>
          <p:nvPr/>
        </p:nvSpPr>
        <p:spPr>
          <a:xfrm>
            <a:off x="7927333" y="8391087"/>
            <a:ext cx="3561922" cy="3621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07;p14">
            <a:extLst>
              <a:ext uri="{FF2B5EF4-FFF2-40B4-BE49-F238E27FC236}">
                <a16:creationId xmlns:a16="http://schemas.microsoft.com/office/drawing/2014/main" id="{0D4C55CD-52CE-B339-D0C2-5B53ACBFFAA3}"/>
              </a:ext>
            </a:extLst>
          </p:cNvPr>
          <p:cNvSpPr txBox="1"/>
          <p:nvPr/>
        </p:nvSpPr>
        <p:spPr>
          <a:xfrm>
            <a:off x="7278404" y="8491287"/>
            <a:ext cx="411560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الحصن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اليهودية</a:t>
            </a:r>
            <a:endParaRPr sz="1500" dirty="0"/>
          </a:p>
        </p:txBody>
      </p:sp>
      <p:sp>
        <p:nvSpPr>
          <p:cNvPr id="45" name="Google Shape;99;p14">
            <a:extLst>
              <a:ext uri="{FF2B5EF4-FFF2-40B4-BE49-F238E27FC236}">
                <a16:creationId xmlns:a16="http://schemas.microsoft.com/office/drawing/2014/main" id="{4A7D59AD-E0F9-01C0-7C63-8A646EDFFE13}"/>
              </a:ext>
            </a:extLst>
          </p:cNvPr>
          <p:cNvSpPr txBox="1"/>
          <p:nvPr/>
        </p:nvSpPr>
        <p:spPr>
          <a:xfrm>
            <a:off x="6429059" y="4269488"/>
            <a:ext cx="50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التوراة</a:t>
            </a:r>
            <a:endParaRPr dirty="0"/>
          </a:p>
        </p:txBody>
      </p:sp>
      <p:sp>
        <p:nvSpPr>
          <p:cNvPr id="46" name="Google Shape;100;p14">
            <a:extLst>
              <a:ext uri="{FF2B5EF4-FFF2-40B4-BE49-F238E27FC236}">
                <a16:creationId xmlns:a16="http://schemas.microsoft.com/office/drawing/2014/main" id="{7E027C18-7763-00FE-42D8-DB9C3B2B7AA0}"/>
              </a:ext>
            </a:extLst>
          </p:cNvPr>
          <p:cNvSpPr txBox="1"/>
          <p:nvPr/>
        </p:nvSpPr>
        <p:spPr>
          <a:xfrm>
            <a:off x="1836132" y="4158045"/>
            <a:ext cx="870657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المركزي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المكتوب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للشريعة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ويعتبر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الأساس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الذي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تقوم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عليه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كافة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الأحكام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اللاحقة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47" name="Google Shape;103;p14" descr="image.png">
            <a:extLst>
              <a:ext uri="{FF2B5EF4-FFF2-40B4-BE49-F238E27FC236}">
                <a16:creationId xmlns:a16="http://schemas.microsoft.com/office/drawing/2014/main" id="{0DB54B6E-50DB-1072-F3D5-A3270F5101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61595" y="4269488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98;p14">
            <a:extLst>
              <a:ext uri="{FF2B5EF4-FFF2-40B4-BE49-F238E27FC236}">
                <a16:creationId xmlns:a16="http://schemas.microsoft.com/office/drawing/2014/main" id="{0849DB37-860C-7FFF-BCB8-48C729A76238}"/>
              </a:ext>
            </a:extLst>
          </p:cNvPr>
          <p:cNvSpPr txBox="1"/>
          <p:nvPr/>
        </p:nvSpPr>
        <p:spPr>
          <a:xfrm>
            <a:off x="1933356" y="5643540"/>
            <a:ext cx="948382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التوازن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المكتوب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الثابت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والشفوي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المتطور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يمنح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عمقًا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واستمرارية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عبر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العصور</a:t>
            </a:r>
            <a:r>
              <a:rPr lang="ar-EG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49" name="Google Shape;106;p14">
            <a:extLst>
              <a:ext uri="{FF2B5EF4-FFF2-40B4-BE49-F238E27FC236}">
                <a16:creationId xmlns:a16="http://schemas.microsoft.com/office/drawing/2014/main" id="{EE51D974-3BF7-4C99-FE0C-9CEAC72D800E}"/>
              </a:ext>
            </a:extLst>
          </p:cNvPr>
          <p:cNvSpPr/>
          <p:nvPr/>
        </p:nvSpPr>
        <p:spPr>
          <a:xfrm>
            <a:off x="8298240" y="6276705"/>
            <a:ext cx="3561922" cy="3621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107;p14">
            <a:extLst>
              <a:ext uri="{FF2B5EF4-FFF2-40B4-BE49-F238E27FC236}">
                <a16:creationId xmlns:a16="http://schemas.microsoft.com/office/drawing/2014/main" id="{4C7BC751-A294-5410-1A10-76D6FAEFC7BC}"/>
              </a:ext>
            </a:extLst>
          </p:cNvPr>
          <p:cNvSpPr txBox="1"/>
          <p:nvPr/>
        </p:nvSpPr>
        <p:spPr>
          <a:xfrm>
            <a:off x="7649311" y="6376905"/>
            <a:ext cx="411560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الحصن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اليهودية</a:t>
            </a:r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001392"/>
            <a:ext cx="5286375" cy="182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715200" y="1754750"/>
            <a:ext cx="49053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الزواج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والطلاق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تخضع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بالكامل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لأحكام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إسرائيل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وبعض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المجتمعات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715200" y="2823476"/>
            <a:ext cx="49053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الميراث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تحدد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أنصبة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الورثة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وتوزيع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التركات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524625" y="4191892"/>
            <a:ext cx="4867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524625" y="4753867"/>
            <a:ext cx="48672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القوانين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التقليدية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دقيقة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جدًا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وتحدد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شكل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العلاقات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الاجتماعية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والاقتصادية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داخل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الأسرة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بشكل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صارم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2667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الأحوال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الشخصية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7089059" y="6210300"/>
            <a:ext cx="453144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993809" y="6294141"/>
            <a:ext cx="453144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مجلة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القراءة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والمعرفة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مكانة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وحقوق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النساء</a:t>
            </a:r>
            <a:endParaRPr sz="1500" dirty="0"/>
          </a:p>
        </p:txBody>
      </p:sp>
      <p:sp>
        <p:nvSpPr>
          <p:cNvPr id="126" name="Google Shape;126;p15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98814"/>
            <a:ext cx="11049000" cy="148768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4989314"/>
            <a:ext cx="10629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5551289"/>
            <a:ext cx="1062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يظهر هذا المجال دمج القانون الديني مع الممارسات المدنية اليومية في المجتمعات الملتزمة.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81775" y="2152650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المعاملات المالية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81775" y="2857500"/>
            <a:ext cx="47436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تشمل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تفصيلات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دقيقة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حول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القروض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والفوائد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الربوية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تحرمها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الشريعة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).</a:t>
            </a:r>
            <a:endParaRPr sz="2000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2152650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الملكية والعهود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2857500"/>
            <a:ext cx="47436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تنظم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كيفية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انتقال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الملكية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والالتزام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بالعهود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التجارية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يخلق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نظامًا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اقتصاديًا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دينيًا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42926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المدني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والمالي</a:t>
            </a:r>
            <a:endParaRPr dirty="0"/>
          </a:p>
        </p:txBody>
      </p:sp>
      <p:sp>
        <p:nvSpPr>
          <p:cNvPr id="142" name="Google Shape;142;p16"/>
          <p:cNvSpPr/>
          <p:nvPr/>
        </p:nvSpPr>
        <p:spPr>
          <a:xfrm>
            <a:off x="6744929" y="6370894"/>
            <a:ext cx="487557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744929" y="6431803"/>
            <a:ext cx="481744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فلسفة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وتاريخ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القوانين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والشرائع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ماجد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هاشم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كيلاني</a:t>
            </a:r>
            <a:endParaRPr sz="1500"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883818"/>
            <a:ext cx="4953000" cy="182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667500" y="762000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الجنائي</a:t>
            </a:r>
            <a:endParaRPr dirty="0"/>
          </a:p>
        </p:txBody>
      </p:sp>
      <p:sp>
        <p:nvSpPr>
          <p:cNvPr id="152" name="Google Shape;152;p17"/>
          <p:cNvSpPr/>
          <p:nvPr/>
        </p:nvSpPr>
        <p:spPr>
          <a:xfrm>
            <a:off x="7658100" y="6096000"/>
            <a:ext cx="39624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753350" y="6202617"/>
            <a:ext cx="37719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دراسة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جامعة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المنصورة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وضع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المرأة</a:t>
            </a:r>
            <a:endParaRPr sz="1500" dirty="0"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9162" y="0"/>
            <a:ext cx="56873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8763000" y="12430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143625" y="1861042"/>
            <a:ext cx="54673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إجراءات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المحاكم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تعتمد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دقيق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للشهادات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والإثبات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ورد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التلمود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6419850" y="2835235"/>
            <a:ext cx="52006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العقوبات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تشمل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العقوبات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البدنية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والمالية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رغم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تطبيقها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تاريخي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أكثر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منه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معاصر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6858000" y="4074318"/>
            <a:ext cx="4533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6858000" y="4636293"/>
            <a:ext cx="45339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بعض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العقوبات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قديمة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جدًا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لكنها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تظل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جزءًا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أساسيًا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التراث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والدراسة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57375"/>
            <a:ext cx="5334000" cy="275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98814"/>
            <a:ext cx="11049000" cy="148768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62000" y="4989314"/>
            <a:ext cx="10629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5551289"/>
            <a:ext cx="106299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تنشأ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توترات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حادة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والقانون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المدني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خاصة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قضايا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المواطنة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والحريات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الفردية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6581775" y="2152650"/>
            <a:ext cx="498062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المرجعية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الدينية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6581775" y="2857500"/>
            <a:ext cx="47434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سعي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التيارات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لاعتماد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كمصدر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أساسي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للتشريع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والتفسير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866775" y="2152650"/>
            <a:ext cx="498062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المرجعية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المدنية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866775" y="2857500"/>
            <a:ext cx="47434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اعتماد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القضائي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الإسرائيلي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مبادئ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الغربي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والديمقراطي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317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التوتر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بين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والقانون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المدني</a:t>
            </a:r>
            <a:endParaRPr dirty="0"/>
          </a:p>
        </p:txBody>
      </p:sp>
      <p:sp>
        <p:nvSpPr>
          <p:cNvPr id="177" name="Google Shape;177;p18"/>
          <p:cNvSpPr/>
          <p:nvPr/>
        </p:nvSpPr>
        <p:spPr>
          <a:xfrm>
            <a:off x="7305368" y="6416781"/>
            <a:ext cx="431513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059561" y="6523396"/>
            <a:ext cx="446568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مركز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الأهرام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للدراسات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السياسية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والاستراتيجية</a:t>
            </a:r>
            <a:endParaRPr sz="1500" dirty="0"/>
          </a:p>
        </p:txBody>
      </p:sp>
      <p:sp>
        <p:nvSpPr>
          <p:cNvPr id="179" name="Google Shape;179;p18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009563"/>
            <a:ext cx="5286375" cy="182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316304" y="2823329"/>
            <a:ext cx="52863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هناك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مقترحات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تشريعية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تهدف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جعل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الشريعة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مصدرًا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تفسيريًا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ملزمًا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للقضاة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حال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غياب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الصريح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857375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6524625" y="4062412"/>
            <a:ext cx="4867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6524625" y="4624387"/>
            <a:ext cx="48672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هذا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التوجه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يعزز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دور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داخل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القضائي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العلماني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يثير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جدلية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حول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الحرية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ومستقبل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الدولة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433851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الإسرائيلي</a:t>
            </a:r>
            <a:endParaRPr dirty="0"/>
          </a:p>
        </p:txBody>
      </p:sp>
      <p:sp>
        <p:nvSpPr>
          <p:cNvPr id="192" name="Google Shape;192;p19"/>
          <p:cNvSpPr/>
          <p:nvPr/>
        </p:nvSpPr>
        <p:spPr>
          <a:xfrm>
            <a:off x="9438969" y="6210300"/>
            <a:ext cx="218153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9631003" y="6257925"/>
            <a:ext cx="19335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وكالة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الأناضول</a:t>
            </a:r>
            <a:endParaRPr sz="1500" dirty="0"/>
          </a:p>
        </p:txBody>
      </p:sp>
      <p:sp>
        <p:nvSpPr>
          <p:cNvPr id="194" name="Google Shape;194;p19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5849"/>
            <a:ext cx="11049000" cy="148768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500" y="2009775"/>
            <a:ext cx="107156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تشير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بعض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الدراسات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العربية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وجود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تمييز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المعاملة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التقليدية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وغير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اليهود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2565945"/>
            <a:ext cx="107156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المرأة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الطلاق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والشهادة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تختلف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الرجل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النصوص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التقليدية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3886349"/>
            <a:ext cx="10629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تحليل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2000"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4448324"/>
            <a:ext cx="106299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هذا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التمييز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يظهر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بوضوح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تطبيقات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الأرثوذكسية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ويحتاج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تأويل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عصري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ليتوافق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مع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مبادئ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الإنسان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365022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التمييز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القانوني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الهلاخا</a:t>
            </a:r>
            <a:endParaRPr dirty="0"/>
          </a:p>
        </p:txBody>
      </p:sp>
      <p:sp>
        <p:nvSpPr>
          <p:cNvPr id="206" name="Google Shape;206;p20"/>
          <p:cNvSpPr/>
          <p:nvPr/>
        </p:nvSpPr>
        <p:spPr>
          <a:xfrm>
            <a:off x="8219769" y="6210300"/>
            <a:ext cx="3400732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8032955" y="6307085"/>
            <a:ext cx="349229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مشروع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الحصن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–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الشريعة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اليهودية</a:t>
            </a:r>
            <a:endParaRPr sz="1500" dirty="0"/>
          </a:p>
        </p:txBody>
      </p:sp>
      <p:sp>
        <p:nvSpPr>
          <p:cNvPr id="208" name="Google Shape;208;p20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900" y="2057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900" y="261357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6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11047"/>
            <a:ext cx="5381625" cy="286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198" y="1411047"/>
            <a:ext cx="5381625" cy="286057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534150" y="2252818"/>
            <a:ext cx="50306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المرجعية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القانونية</a:t>
            </a:r>
            <a:endParaRPr dirty="0"/>
          </a:p>
        </p:txBody>
      </p:sp>
      <p:sp>
        <p:nvSpPr>
          <p:cNvPr id="219" name="Google Shape;219;p21"/>
          <p:cNvSpPr txBox="1"/>
          <p:nvPr/>
        </p:nvSpPr>
        <p:spPr>
          <a:xfrm>
            <a:off x="6600979" y="2730459"/>
            <a:ext cx="47910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انتقاد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تحويل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إلى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مرجعية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قانونية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النظام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المدني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الحديث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،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مما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قد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يعيق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التطور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التشريعي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866775" y="2233149"/>
            <a:ext cx="50306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الحريات</a:t>
            </a:r>
            <a:r>
              <a:rPr lang="en-US" sz="2100" b="1" i="0" u="none" strike="noStrike" cap="none" dirty="0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B45309"/>
                </a:solidFill>
                <a:latin typeface="Cairo"/>
                <a:ea typeface="Cairo"/>
                <a:cs typeface="Cairo"/>
                <a:sym typeface="Cairo"/>
              </a:rPr>
              <a:t>الفردية</a:t>
            </a:r>
            <a:endParaRPr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923925" y="2644810"/>
            <a:ext cx="47910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القلق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من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تأثير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السلطة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الدينية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على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الحقوق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الفردية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والحريات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الشخصية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لغير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المتدينين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.</a:t>
            </a:r>
            <a:endParaRPr sz="2000" dirty="0"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44225" y="162846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81600" y="153997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39878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النقد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الديني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والقانوني</a:t>
            </a:r>
            <a:endParaRPr dirty="0"/>
          </a:p>
        </p:txBody>
      </p:sp>
      <p:sp>
        <p:nvSpPr>
          <p:cNvPr id="225" name="Google Shape;225;p21"/>
          <p:cNvSpPr/>
          <p:nvPr/>
        </p:nvSpPr>
        <p:spPr>
          <a:xfrm>
            <a:off x="9037381" y="3811345"/>
            <a:ext cx="2535494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8996516" y="3858140"/>
            <a:ext cx="252873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مجلة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القراءة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والمعرفة</a:t>
            </a:r>
            <a:endParaRPr sz="1500" dirty="0"/>
          </a:p>
        </p:txBody>
      </p:sp>
      <p:sp>
        <p:nvSpPr>
          <p:cNvPr id="227" name="Google Shape;227;p21"/>
          <p:cNvSpPr/>
          <p:nvPr/>
        </p:nvSpPr>
        <p:spPr>
          <a:xfrm>
            <a:off x="5715000" y="1052512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A835B-C411-7B1A-BE09-404722399FFB}"/>
              </a:ext>
            </a:extLst>
          </p:cNvPr>
          <p:cNvSpPr txBox="1"/>
          <p:nvPr/>
        </p:nvSpPr>
        <p:spPr>
          <a:xfrm>
            <a:off x="235974" y="4744506"/>
            <a:ext cx="1115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sz="2000" dirty="0" err="1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الهلاخا</a:t>
            </a:r>
            <a:r>
              <a:rPr lang="ar-EG" sz="2000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 نظام قانوني متكامل يجمع بين الديني والمدني، ويربط النصوص القديمة بالواقع المعاصر. تشهد إسرائيل اتجاهات لدمجها بشكل أكبر مع القانون المدني.</a:t>
            </a:r>
            <a:endParaRPr lang="ar-EG" sz="2000" dirty="0"/>
          </a:p>
          <a:p>
            <a:pPr algn="r" rtl="1"/>
            <a:r>
              <a:rPr lang="ar-EG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</a:t>
            </a:r>
            <a:endParaRPr lang="en-US" dirty="0"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B8E60-6E5A-D078-486F-041F4E0013AE}"/>
              </a:ext>
            </a:extLst>
          </p:cNvPr>
          <p:cNvSpPr txBox="1"/>
          <p:nvPr/>
        </p:nvSpPr>
        <p:spPr>
          <a:xfrm>
            <a:off x="2287382" y="5735041"/>
            <a:ext cx="910467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000" b="0" i="0" u="none" strike="noStrike" cap="none" dirty="0">
                <a:solidFill>
                  <a:srgbClr val="334155"/>
                </a:solidFill>
                <a:latin typeface="Amiri"/>
                <a:ea typeface="Amiri"/>
                <a:cs typeface="Amiri"/>
                <a:sym typeface="Amiri"/>
              </a:rPr>
              <a:t>فتح حوار أكاديمي وديني في العالم العربي لتقييم دور الشريعة اليهودية وتأثيراتها السياسية والقانونية.</a:t>
            </a:r>
            <a:endParaRPr lang="ar-EG" sz="2000" dirty="0"/>
          </a:p>
        </p:txBody>
      </p:sp>
      <p:sp>
        <p:nvSpPr>
          <p:cNvPr id="240" name="Google Shape;240;p22"/>
          <p:cNvSpPr txBox="1"/>
          <p:nvPr/>
        </p:nvSpPr>
        <p:spPr>
          <a:xfrm>
            <a:off x="4222648" y="5641376"/>
            <a:ext cx="7048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مقترح:</a:t>
            </a:r>
            <a:endParaRPr lang="ar-EG" dirty="0"/>
          </a:p>
        </p:txBody>
      </p:sp>
      <p:sp>
        <p:nvSpPr>
          <p:cNvPr id="9" name="Google Shape;240;p22">
            <a:extLst>
              <a:ext uri="{FF2B5EF4-FFF2-40B4-BE49-F238E27FC236}">
                <a16:creationId xmlns:a16="http://schemas.microsoft.com/office/drawing/2014/main" id="{AFB18C4C-BAD6-E24D-19C0-445D2DAE1A71}"/>
              </a:ext>
            </a:extLst>
          </p:cNvPr>
          <p:cNvSpPr txBox="1"/>
          <p:nvPr/>
        </p:nvSpPr>
        <p:spPr>
          <a:xfrm>
            <a:off x="4222648" y="4508317"/>
            <a:ext cx="7048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5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الخلاصة:</a:t>
            </a:r>
            <a:endParaRPr lang="ar-EG" dirty="0"/>
          </a:p>
        </p:txBody>
      </p:sp>
      <p:sp>
        <p:nvSpPr>
          <p:cNvPr id="237" name="Google Shape;237;p22"/>
          <p:cNvSpPr/>
          <p:nvPr/>
        </p:nvSpPr>
        <p:spPr>
          <a:xfrm>
            <a:off x="4523994" y="6371724"/>
            <a:ext cx="3250636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443028" y="6399181"/>
            <a:ext cx="322959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المصدر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مركز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الأهرام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للدراسات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السياسية</a:t>
            </a:r>
            <a:endParaRPr sz="1500" dirty="0"/>
          </a:p>
        </p:txBody>
      </p:sp>
      <p:sp>
        <p:nvSpPr>
          <p:cNvPr id="12" name="Google Shape;227;p21">
            <a:extLst>
              <a:ext uri="{FF2B5EF4-FFF2-40B4-BE49-F238E27FC236}">
                <a16:creationId xmlns:a16="http://schemas.microsoft.com/office/drawing/2014/main" id="{4C5C7CA1-CCC9-EB44-518F-3F1F685FB421}"/>
              </a:ext>
            </a:extLst>
          </p:cNvPr>
          <p:cNvSpPr/>
          <p:nvPr/>
        </p:nvSpPr>
        <p:spPr>
          <a:xfrm>
            <a:off x="5715000" y="5515845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>
          <a:extLst>
            <a:ext uri="{FF2B5EF4-FFF2-40B4-BE49-F238E27FC236}">
              <a16:creationId xmlns:a16="http://schemas.microsoft.com/office/drawing/2014/main" id="{023C3260-6C57-E99C-EF1B-DE958696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>
            <a:extLst>
              <a:ext uri="{FF2B5EF4-FFF2-40B4-BE49-F238E27FC236}">
                <a16:creationId xmlns:a16="http://schemas.microsoft.com/office/drawing/2014/main" id="{F82B45E3-7968-B473-4229-9B701A0DB0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>
            <a:extLst>
              <a:ext uri="{FF2B5EF4-FFF2-40B4-BE49-F238E27FC236}">
                <a16:creationId xmlns:a16="http://schemas.microsoft.com/office/drawing/2014/main" id="{F75F322A-43C2-FE7E-5EDF-8CC0B36007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49" y="697409"/>
            <a:ext cx="8572500" cy="546318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>
            <a:extLst>
              <a:ext uri="{FF2B5EF4-FFF2-40B4-BE49-F238E27FC236}">
                <a16:creationId xmlns:a16="http://schemas.microsoft.com/office/drawing/2014/main" id="{E1269C54-0AA3-343D-7948-73B5F79FF2C7}"/>
              </a:ext>
            </a:extLst>
          </p:cNvPr>
          <p:cNvSpPr txBox="1"/>
          <p:nvPr/>
        </p:nvSpPr>
        <p:spPr>
          <a:xfrm>
            <a:off x="2195512" y="1268908"/>
            <a:ext cx="78009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3600" b="1" i="0" u="none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المصادر</a:t>
            </a:r>
            <a:endParaRPr dirty="0"/>
          </a:p>
        </p:txBody>
      </p:sp>
      <p:sp>
        <p:nvSpPr>
          <p:cNvPr id="239" name="Google Shape;239;p22">
            <a:extLst>
              <a:ext uri="{FF2B5EF4-FFF2-40B4-BE49-F238E27FC236}">
                <a16:creationId xmlns:a16="http://schemas.microsoft.com/office/drawing/2014/main" id="{2B8A8A01-A488-9C78-D7A9-003BEA89AC30}"/>
              </a:ext>
            </a:extLst>
          </p:cNvPr>
          <p:cNvSpPr/>
          <p:nvPr/>
        </p:nvSpPr>
        <p:spPr>
          <a:xfrm>
            <a:off x="5715000" y="1749921"/>
            <a:ext cx="762000" cy="381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4FF47-BB42-E5DE-98DC-C71034907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091" y="1897559"/>
            <a:ext cx="469712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الشريعة اليهودية (</a:t>
            </a:r>
            <a:r>
              <a:rPr kumimoji="0" lang="ar-SA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الهلاخا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إطار قانوني وديني بين التراث والحداثة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مشروع الحصن – الشريعة اليهودية الشفوية والمكتوبة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مشروع الحصن – الشريعة اليهودية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مجلة القراءة والمعرفة – مكانة وحقوق النساء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فلسفة وتاريخ القوانين والشرائع – ماجد هاشم كيلاني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دراسة جامعة المنصورة – وضع المرأة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مركز الأهرام للدراسات السياسية والاستراتيجية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وكالة الأناضول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مشروع الحصن – الشريعة اليهودية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مجلة القراءة والمعرفة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مركز الأهرام للدراسات السياسية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43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680</Words>
  <Application>Microsoft Office PowerPoint</Application>
  <PresentationFormat>Widescreen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Amiri</vt:lpstr>
      <vt:lpstr>Cairo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Mina Awny</cp:lastModifiedBy>
  <cp:revision>9</cp:revision>
  <dcterms:modified xsi:type="dcterms:W3CDTF">2025-11-29T20:43:38Z</dcterms:modified>
</cp:coreProperties>
</file>